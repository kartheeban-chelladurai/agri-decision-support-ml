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319" r:id="rId2"/>
    <p:sldId id="506" r:id="rId3"/>
    <p:sldId id="514" r:id="rId4"/>
    <p:sldId id="507" r:id="rId5"/>
    <p:sldId id="508" r:id="rId6"/>
    <p:sldId id="509" r:id="rId7"/>
    <p:sldId id="515" r:id="rId8"/>
    <p:sldId id="51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33" d="100"/>
          <a:sy n="33" d="100"/>
        </p:scale>
        <p:origin x="643" y="10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5EB6FF-ADAA-45C6-A825-247BBAE19742}" type="datetimeFigureOut">
              <a:rPr lang="en-IN" smtClean="0"/>
              <a:t>24-09-2026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A77BC4-17D5-4B3B-8254-CC862B6A5E2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09984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A77BC4-17D5-4B3B-8254-CC862B6A5E2F}" type="slidenum">
              <a:rPr lang="en-IN" smtClean="0"/>
              <a:t>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6296340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E602E-F900-9031-6AC8-73F10556E0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4C2B61-6876-88B3-A5F9-7B829DA423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A60275-ABCD-B29C-8C0A-6E4F2FD3E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FF3498-F4F9-DB41-CD36-6A221BCB6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CE914-FBBD-92B9-9CA2-3F40FD1D7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36633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98DF1-C5BE-6796-70DE-A3F503A71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F4492F-7D80-29C9-2308-5A8569C2D3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13FDF3-E10C-A3F0-B98D-453E8083D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066F82-2042-C918-C81F-2F9B4F18B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C9D627-19C3-DC54-7CD9-FA5500839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957866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671E6-8C35-83BC-2B33-0655540CB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5F6C37-AB34-25BE-12C1-AA65FCA8F7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F8FFD-45F0-DD57-FE3C-9E076ACE2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2A5514-393C-EFCE-01F9-B2CE001A8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5ACB48-3533-1C36-3514-71B63718C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420567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CD219-FA69-9CBF-FBDE-B710CFB85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158CF-DE11-9B79-12E3-5342CE5B61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E2B980-E864-34A6-6906-C86638E185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A7FA1C-7B6A-BA75-B37B-195B0F573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97CB70-8B73-BAB9-8426-FDEFD7163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A51A4B-870D-163F-53D2-0AADE3398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823984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BA5A0-BB01-6BB8-C159-471001A90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476893-4A4F-426A-A5F6-626610F379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95C00F-0E53-D71D-782E-D740B83A1A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83FF82-8820-CCBF-411E-57C2C0FB43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AF392E-9590-423C-3F62-1B99F8ED7D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51395E-14B8-3C49-B85F-5EE4C7A43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25F0EAD-79ED-31EE-A7B8-00CA48D0D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9BBB80-F93E-5FA1-B554-B865EFB6E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734442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D0E9A-C769-7BAB-77EC-E3DD0C871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9FE8A4-529A-DDB2-CFFE-2621FA723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97F48B-5C43-9F3A-55CC-A47A74EE7E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0BDCAC-FA44-2D60-C7FB-00EA9C2A9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295466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7AFBC8-4429-3CF2-D7FD-013C843A5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6F2463-4C84-38B5-C473-94DEDD337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D4EB43-8F87-9269-D6F6-0FBA03253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237652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21E04-8BD9-6B68-FC0F-A711F6A8C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7F50A1-7EB1-0089-AFE0-A0B4139BAA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8D8750-631F-0F8E-8365-7236BB4F64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4EE415-B1A5-EF49-8E72-3A526EF23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4330E7-EC53-C9ED-DBB8-5B347D7F2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DCD15B-3E89-C907-AE04-8C7A74F28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473136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BBE34-C477-BD1D-5C4A-423A42EC4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F98EAA-EB77-18BB-153B-3C2C17FD4C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F9DA39-FACA-F80B-5621-B93583F1D0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DF808F-D30B-9980-A54D-AF59385A3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D7B967-36B2-D49E-ACAA-62ED90179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F779D1-E21D-CDFE-D44E-F0AE9A47E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350413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8ADA2-FAF6-FC43-216D-329339BBA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F6FCD0-243C-6296-B116-1BE620DC32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754B15-B895-3960-42A1-243C13660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F702E8-C53E-4EA8-5371-E99E20C0B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71A6DE-5D9F-FF19-9DCE-40347D324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03224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0E82D7-F785-4947-1FAC-D31467C679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B5C0C9-4A27-BB0A-99C0-CD5C624AAA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A07FE6-F9D6-5313-31D3-3B456B3EC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BC271F-B837-12E3-63A5-2BF92AF5D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A47357-8C1B-DAF7-EA68-D7B300470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9064260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18000"/>
            <a:lum/>
          </a:blip>
          <a:srcRect/>
          <a:stretch>
            <a:fillRect l="4000" t="15000" r="4000" b="1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2500EC-1157-3044-AF8C-8BB8052A0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1158B8-89EE-6370-40DB-B553292010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70FA01-4EFB-2556-186F-6EDC8B37E2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73A508-2D6B-F27D-0E75-55977FA039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89B5CE-202A-2084-F4FC-495F1B77B5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69418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jp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1514759"/>
            <a:ext cx="10515600" cy="1137422"/>
          </a:xfrm>
          <a:noFill/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CS3503 – Machine Learning PBL</a:t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Review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E695C9B8-2B8D-722A-D1E4-DB26ABC227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7253" y="4205820"/>
            <a:ext cx="4822502" cy="1747839"/>
          </a:xfrm>
          <a:noFill/>
        </p:spPr>
        <p:txBody>
          <a:bodyPr rtlCol="0">
            <a:normAutofit/>
          </a:bodyPr>
          <a:lstStyle/>
          <a:p>
            <a:pPr algn="just" eaLnBrk="1" fontAlgn="auto" hangingPunct="1">
              <a:spcBef>
                <a:spcPts val="575"/>
              </a:spcBef>
              <a:spcAft>
                <a:spcPts val="0"/>
              </a:spcAft>
              <a:buClr>
                <a:srgbClr val="D34817"/>
              </a:buClr>
              <a:buSzPct val="85000"/>
              <a:defRPr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by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575"/>
              </a:spcBef>
              <a:buClr>
                <a:srgbClr val="D34817"/>
              </a:buClr>
              <a:buSzPct val="85000"/>
              <a:defRPr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Kartheeban C (2104251040406)</a:t>
            </a:r>
          </a:p>
          <a:p>
            <a:pPr algn="just">
              <a:spcBef>
                <a:spcPts val="575"/>
              </a:spcBef>
              <a:buClr>
                <a:srgbClr val="D34817"/>
              </a:buClr>
              <a:buSzPct val="85000"/>
              <a:defRPr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B Nishanth (2104251040127)</a:t>
            </a:r>
          </a:p>
          <a:p>
            <a:pPr algn="just">
              <a:spcBef>
                <a:spcPts val="575"/>
              </a:spcBef>
              <a:buClr>
                <a:srgbClr val="D34817"/>
              </a:buClr>
              <a:buSzPct val="85000"/>
              <a:defRPr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Computer Science and Engineering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54B01F8-75A2-E674-8FB3-91C160A648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407" b="13744"/>
          <a:stretch>
            <a:fillRect/>
          </a:stretch>
        </p:blipFill>
        <p:spPr>
          <a:xfrm>
            <a:off x="2746627" y="136526"/>
            <a:ext cx="6698746" cy="113742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A8A47D1-B6FE-DF05-8C4F-BF8ADA8CECA2}"/>
              </a:ext>
            </a:extLst>
          </p:cNvPr>
          <p:cNvSpPr txBox="1"/>
          <p:nvPr/>
        </p:nvSpPr>
        <p:spPr>
          <a:xfrm>
            <a:off x="914400" y="2761488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AgriSense — An ML-Based Agricultural Decision Support System for Small-Scale Farmers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3E79CF91-FEBC-8843-2396-3F73C4A93418}"/>
              </a:ext>
            </a:extLst>
          </p:cNvPr>
          <p:cNvSpPr txBox="1">
            <a:spLocks/>
          </p:cNvSpPr>
          <p:nvPr/>
        </p:nvSpPr>
        <p:spPr>
          <a:xfrm>
            <a:off x="7164038" y="4205819"/>
            <a:ext cx="4562669" cy="1747839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ts val="575"/>
              </a:spcBef>
              <a:buClr>
                <a:srgbClr val="D34817"/>
              </a:buClr>
              <a:buSzPct val="85000"/>
              <a:defRPr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Mentor</a:t>
            </a:r>
          </a:p>
          <a:p>
            <a:pPr algn="l">
              <a:spcBef>
                <a:spcPts val="575"/>
              </a:spcBef>
              <a:buClr>
                <a:srgbClr val="D34817"/>
              </a:buClr>
              <a:buSzPct val="85000"/>
              <a:defRPr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Ms. Rajapriya</a:t>
            </a:r>
          </a:p>
          <a:p>
            <a:pPr algn="l">
              <a:spcBef>
                <a:spcPts val="575"/>
              </a:spcBef>
              <a:buClr>
                <a:srgbClr val="D34817"/>
              </a:buClr>
              <a:buSzPct val="85000"/>
              <a:defRPr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&lt;Designation&gt;</a:t>
            </a:r>
          </a:p>
          <a:p>
            <a:pPr algn="l">
              <a:spcBef>
                <a:spcPts val="575"/>
              </a:spcBef>
              <a:buClr>
                <a:srgbClr val="D34817"/>
              </a:buClr>
              <a:buSzPct val="85000"/>
              <a:defRPr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Computer Science and Engineering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4DD7FD45-5E4F-0506-E6E9-699A49C3E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1</a:t>
            </a:fld>
            <a:endParaRPr lang="en-IN" dirty="0"/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CD744800-7B7D-1CC0-99F0-27E4BA9DE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1FE1F1F0-72E3-4268-62A9-CA71368AD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II–Year PBL Project Final Review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921714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9CACB-BD96-E2FF-8A86-211497479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47675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64B721-FE62-DE79-132F-30A2E97EDB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320" y="995680"/>
            <a:ext cx="11135360" cy="2433320"/>
          </a:xfrm>
          <a:noFill/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Small-scale farmers decide what to sow, and what to expect, from experience rather than from their own data.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A soil test card reports N, P, K and pH, but nothing that maps those numbers to a crop that suits them.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Affected: farmers on single small plots, who carry the full cost of one wrong sowing decision for a season.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It matters because yields in the data used here span 0.0005 to 33,089 units per hectare across 75 crops.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Per-plot agronomic advice does not scale; a model trained on existing agricultural data does.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23CDA66-B5BD-2386-BB8F-491237797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2</a:t>
            </a:fld>
            <a:endParaRPr lang="en-IN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EA11D91B-4958-A12F-C19C-77C5B83B1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C1B7ED-4992-7EBC-5212-A1AE4793B1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99" t="4596" r="67470" b="9539"/>
          <a:stretch>
            <a:fillRect/>
          </a:stretch>
        </p:blipFill>
        <p:spPr>
          <a:xfrm>
            <a:off x="10639226" y="87932"/>
            <a:ext cx="1429148" cy="907748"/>
          </a:xfrm>
          <a:prstGeom prst="rect">
            <a:avLst/>
          </a:prstGeom>
        </p:spPr>
      </p:pic>
      <p:sp>
        <p:nvSpPr>
          <p:cNvPr id="4" name="Footer Placeholder 17">
            <a:extLst>
              <a:ext uri="{FF2B5EF4-FFF2-40B4-BE49-F238E27FC236}">
                <a16:creationId xmlns:a16="http://schemas.microsoft.com/office/drawing/2014/main" id="{30690128-931D-A777-D1FD-90C08716F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II–Year PBL Project Final Review</a:t>
            </a:r>
            <a:endParaRPr lang="en-IN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4CFBC3A-C6D9-950A-AAA8-D4DC8D77DE35}"/>
              </a:ext>
            </a:extLst>
          </p:cNvPr>
          <p:cNvSpPr txBox="1">
            <a:spLocks/>
          </p:cNvSpPr>
          <p:nvPr/>
        </p:nvSpPr>
        <p:spPr>
          <a:xfrm>
            <a:off x="528320" y="3611882"/>
            <a:ext cx="5431322" cy="274446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Identify which soil and weather variables actually drive crop choice and yield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Develop two models — crop recommendation (classification) and yield estimation (regression)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Apply ML to turn a single soil test into a sowing decision a farmer can act on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Evaluate on held-out data with 5-fold cross-validation, then tune and improve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64EE8C4-9DF8-3FF3-8179-F4A537F21798}"/>
              </a:ext>
            </a:extLst>
          </p:cNvPr>
          <p:cNvSpPr txBox="1">
            <a:spLocks/>
          </p:cNvSpPr>
          <p:nvPr/>
        </p:nvSpPr>
        <p:spPr>
          <a:xfrm>
            <a:off x="6232358" y="3611882"/>
            <a:ext cx="5431322" cy="274446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A machine-learning solution that recommends one of 22 crops from a soil test and estimates the yield of that crop on a plot.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Delivered as a React Native app over a FastAPI service.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Every figure reported comes from the training run's JSON output.</a:t>
            </a:r>
          </a:p>
        </p:txBody>
      </p:sp>
    </p:spTree>
    <p:extLst>
      <p:ext uri="{BB962C8B-B14F-4D97-AF65-F5344CB8AC3E}">
        <p14:creationId xmlns:p14="http://schemas.microsoft.com/office/powerpoint/2010/main" val="9204749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5419B9-8D2B-A5A3-F590-0BFB33841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FBA6E-00B3-FA77-124C-9ED96ECA4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47675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Input, Analysis &amp; Insights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5D538F8-98D7-48A3-27E2-29A0B6829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3</a:t>
            </a:fld>
            <a:endParaRPr lang="en-IN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6A5BEA90-A627-443A-8EA9-207D3A67C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0AD397-676F-684A-AD7C-D3C8687BC1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99" t="4596" r="67470" b="9539"/>
          <a:stretch>
            <a:fillRect/>
          </a:stretch>
        </p:blipFill>
        <p:spPr>
          <a:xfrm>
            <a:off x="10639226" y="87932"/>
            <a:ext cx="1429148" cy="907748"/>
          </a:xfrm>
          <a:prstGeom prst="rect">
            <a:avLst/>
          </a:prstGeom>
        </p:spPr>
      </p:pic>
      <p:sp>
        <p:nvSpPr>
          <p:cNvPr id="4" name="Footer Placeholder 17">
            <a:extLst>
              <a:ext uri="{FF2B5EF4-FFF2-40B4-BE49-F238E27FC236}">
                <a16:creationId xmlns:a16="http://schemas.microsoft.com/office/drawing/2014/main" id="{8E569DF1-A45B-2F18-2C1D-E91C9F96E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II–Year PBL Project Final Review</a:t>
            </a:r>
            <a:endParaRPr lang="en-IN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F972567-383A-549B-CF00-1D76A4759ADD}"/>
              </a:ext>
            </a:extLst>
          </p:cNvPr>
          <p:cNvSpPr txBox="1">
            <a:spLocks/>
          </p:cNvSpPr>
          <p:nvPr/>
        </p:nvSpPr>
        <p:spPr>
          <a:xfrm>
            <a:off x="528320" y="995680"/>
            <a:ext cx="5431322" cy="261620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Input/ Data Sources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Crop data — 2,200 rows, 22 crops balanced at 100 each: N, P, K, temperature, humidity, pH, rainfall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Yield data — 49,999 rows, 75 crops, 6 seasons: temperature, humidity, soil moisture, area, season, crop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Both are public CSVs, committed to the repository and used as-is; no synthetic rows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3E7483B-4811-61DA-D7B7-E92B17337300}"/>
              </a:ext>
            </a:extLst>
          </p:cNvPr>
          <p:cNvSpPr txBox="1">
            <a:spLocks/>
          </p:cNvSpPr>
          <p:nvPr/>
        </p:nvSpPr>
        <p:spPr>
          <a:xfrm>
            <a:off x="6232358" y="995680"/>
            <a:ext cx="5431322" cy="536067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Analysis/ Processing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Cleaning: 49,999 rows → 49,675 after dropping invalid area or production → 48,681 after 1st–99th percentile clipping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Yield derived as Production ÷ Area; season and crop labels stripped of whitespace, then label-encoded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Three models compared per task on one stratified split, then GridSearchCV and 5-fold cross-validation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BDC3270D-AF1C-3E78-E712-FD035746225B}"/>
              </a:ext>
            </a:extLst>
          </p:cNvPr>
          <p:cNvSpPr txBox="1">
            <a:spLocks/>
          </p:cNvSpPr>
          <p:nvPr/>
        </p:nvSpPr>
        <p:spPr>
          <a:xfrm>
            <a:off x="528320" y="3740148"/>
            <a:ext cx="5431322" cy="261620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Rainfall (0.223), humidity (0.217) and K (0.183) dominate crop choice; pH matters least (0.053)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For yield, crop identity (0.495) and season (0.340) outweigh every measured environmental variable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Crop classes separate cleanly — 99.55% accuracy; yield is far harder — best R² 0.740</a:t>
            </a:r>
          </a:p>
        </p:txBody>
      </p:sp>
      <p:pic>
        <p:nvPicPr>
          <p:cNvPr id="14" name="Picture 13" descr="crop_feature_impor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4264" y="3337560"/>
            <a:ext cx="4535424" cy="2834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21027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115378-57A1-BD2B-6825-39104D9E91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36032-DF0E-254C-0CD8-AB6E66698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47675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518352F-9C19-CF1E-1D03-4BACF46A8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4</a:t>
            </a:fld>
            <a:endParaRPr lang="en-IN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B39290C-FF8D-37DE-61F5-B382DBC80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A9A8F1E-B41B-EFBC-9FA3-324946ED4AF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99" t="4596" r="67470" b="9539"/>
          <a:stretch>
            <a:fillRect/>
          </a:stretch>
        </p:blipFill>
        <p:spPr>
          <a:xfrm>
            <a:off x="10639226" y="87932"/>
            <a:ext cx="1429148" cy="907748"/>
          </a:xfrm>
          <a:prstGeom prst="rect">
            <a:avLst/>
          </a:prstGeom>
        </p:spPr>
      </p:pic>
      <p:sp>
        <p:nvSpPr>
          <p:cNvPr id="10" name="Footer Placeholder 17">
            <a:extLst>
              <a:ext uri="{FF2B5EF4-FFF2-40B4-BE49-F238E27FC236}">
                <a16:creationId xmlns:a16="http://schemas.microsoft.com/office/drawing/2014/main" id="{20C423C8-65A4-300E-51C7-B4952EDE1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II–Year PBL Project Final Review</a:t>
            </a:r>
            <a:endParaRPr lang="en-IN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265AD724-9C99-5D2A-C540-18B286306A28}"/>
              </a:ext>
            </a:extLst>
          </p:cNvPr>
          <p:cNvSpPr txBox="1">
            <a:spLocks/>
          </p:cNvSpPr>
          <p:nvPr/>
        </p:nvSpPr>
        <p:spPr>
          <a:xfrm>
            <a:off x="528320" y="995680"/>
            <a:ext cx="5431322" cy="261620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E6FB5461-00D8-24D8-D0A0-BD98F40612EA}"/>
              </a:ext>
            </a:extLst>
          </p:cNvPr>
          <p:cNvSpPr txBox="1">
            <a:spLocks/>
          </p:cNvSpPr>
          <p:nvPr/>
        </p:nvSpPr>
        <p:spPr>
          <a:xfrm>
            <a:off x="6232358" y="995680"/>
            <a:ext cx="5431322" cy="536067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 Methodology and Implementation Process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Load → clean → derive target → encode categoricals → stratified 80/20 train-test split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Compare three models per task on the same split, tune the winner with GridSearchCV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Confirm with 5-fold cross-validation, then persist model and encoders with joblib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prototype_demo.py is the single inference entry point; a parity test keeps API and model identical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C42911C6-4047-D019-EA7D-28985C058142}"/>
              </a:ext>
            </a:extLst>
          </p:cNvPr>
          <p:cNvSpPr txBox="1">
            <a:spLocks/>
          </p:cNvSpPr>
          <p:nvPr/>
        </p:nvSpPr>
        <p:spPr>
          <a:xfrm>
            <a:off x="528320" y="3740148"/>
            <a:ext cx="5431322" cy="261620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ML: Python 3.11+, pandas, NumPy, scikit-learn, XGBoost, joblib, matplotlib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Backend: FastAPI, Pydantic, Uvicorn — REST only, no ML logic of its own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Mobile: React Native, Expo SDK 57, TypeScript, Expo Router, AsyncStorage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Testing and tooling: pytest (22 tests), Git and GitHub</a:t>
            </a:r>
          </a:p>
        </p:txBody>
      </p:sp>
      <p:pic>
        <p:nvPicPr>
          <p:cNvPr id="18" name="Picture 17" descr="architecture_wi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1288" y="1389888"/>
            <a:ext cx="4169663" cy="2177491"/>
          </a:xfrm>
          <a:prstGeom prst="rect">
            <a:avLst/>
          </a:prstGeom>
        </p:spPr>
      </p:pic>
      <p:pic>
        <p:nvPicPr>
          <p:cNvPr id="19" name="Picture 18" descr="code_model_select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7648" y="3694176"/>
            <a:ext cx="5248656" cy="2379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81798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6618C8-1A4F-EFB9-CA30-299146157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40AA7-ACBA-6CC8-C67C-FB16D1F504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47675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Feasibility, Risk and Challenges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1E70550-5F49-E002-6AE3-6E645A7FB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5</a:t>
            </a:fld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D383AF-943A-AF13-9532-2E7247763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CF922E5-3869-BACF-D57D-A6E439B7C48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99" t="4596" r="67470" b="9539"/>
          <a:stretch>
            <a:fillRect/>
          </a:stretch>
        </p:blipFill>
        <p:spPr>
          <a:xfrm>
            <a:off x="10639226" y="87932"/>
            <a:ext cx="1429148" cy="907748"/>
          </a:xfrm>
          <a:prstGeom prst="rect">
            <a:avLst/>
          </a:prstGeom>
        </p:spPr>
      </p:pic>
      <p:sp>
        <p:nvSpPr>
          <p:cNvPr id="10" name="Footer Placeholder 17">
            <a:extLst>
              <a:ext uri="{FF2B5EF4-FFF2-40B4-BE49-F238E27FC236}">
                <a16:creationId xmlns:a16="http://schemas.microsoft.com/office/drawing/2014/main" id="{6DD06387-97D0-39D2-34A2-A189B9C87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II–Year PBL Project Final Review</a:t>
            </a:r>
            <a:endParaRPr lang="en-IN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A1C04632-2C25-41CF-16BF-7E21BD7B277A}"/>
              </a:ext>
            </a:extLst>
          </p:cNvPr>
          <p:cNvSpPr txBox="1">
            <a:spLocks/>
          </p:cNvSpPr>
          <p:nvPr/>
        </p:nvSpPr>
        <p:spPr>
          <a:xfrm>
            <a:off x="528320" y="995680"/>
            <a:ext cx="5431322" cy="261620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Feasibility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Technical: both models train in minutes on a laptop CPU; saved artefacts total about 3 MB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Economic: open-source tooling and public data — no licence cost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Operational: a farmer enters seven values; models stay cached in memory, no retraining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Reproducible: fixed seed, pinned versions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B287D6E2-D2A8-8A09-D852-F8844378CEC8}"/>
              </a:ext>
            </a:extLst>
          </p:cNvPr>
          <p:cNvSpPr txBox="1">
            <a:spLocks/>
          </p:cNvSpPr>
          <p:nvPr/>
        </p:nvSpPr>
        <p:spPr>
          <a:xfrm>
            <a:off x="6232358" y="995680"/>
            <a:ext cx="5431322" cy="536067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and Challenges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Yield is genuinely hard — R² 0.740 leaves about a quarter of test variance unexplained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Yield units are not uniform: the source mixes tonnes, bales and nuts, so estimates compare within a crop only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The crop dataset is perfectly balanced, which flatters accuracy against a real, skewed field distribution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Neither dataset carries the year or the region, so results cannot be validated against a specific farm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Device-to-backend networking across emulator and physical device was the main integration difficulty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Pinned native dependencies: a missing react-native-svg entry blocked the Expo bundle until it was added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Saved models are version-sensitive, so the scikit-learn and XGBoost pins must match across both requirement files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4BEEC87A-A354-40E4-44C7-0E984250BF0A}"/>
              </a:ext>
            </a:extLst>
          </p:cNvPr>
          <p:cNvSpPr txBox="1">
            <a:spLocks/>
          </p:cNvSpPr>
          <p:nvPr/>
        </p:nvSpPr>
        <p:spPr>
          <a:xfrm>
            <a:off x="528320" y="3740148"/>
            <a:ext cx="5431322" cy="261620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Mitigation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Present yield as a planning estimate, with the unit note on every screen that shows one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Held-out test set plus 5-fold cross-validation behind every number reported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Validation at three layers: Pydantic schemas, encoder guards, 22 automated tests</a:t>
            </a:r>
          </a:p>
        </p:txBody>
      </p:sp>
    </p:spTree>
    <p:extLst>
      <p:ext uri="{BB962C8B-B14F-4D97-AF65-F5344CB8AC3E}">
        <p14:creationId xmlns:p14="http://schemas.microsoft.com/office/powerpoint/2010/main" val="8930388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3B97E5-D400-46AE-AE05-98F3D3664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03512-77FF-BCD5-5958-FBFA0FD12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47675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and Applications 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7D2D4A5-60AA-677E-EC4C-E20C7280E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6</a:t>
            </a:fld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83DF96-CDCE-6198-A813-9DB585D26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46D0B08-F462-E519-F15E-E0BEB7ABC6D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99" t="4596" r="67470" b="9539"/>
          <a:stretch>
            <a:fillRect/>
          </a:stretch>
        </p:blipFill>
        <p:spPr>
          <a:xfrm>
            <a:off x="10639226" y="87932"/>
            <a:ext cx="1429148" cy="907748"/>
          </a:xfrm>
          <a:prstGeom prst="rect">
            <a:avLst/>
          </a:prstGeom>
        </p:spPr>
      </p:pic>
      <p:sp>
        <p:nvSpPr>
          <p:cNvPr id="10" name="Footer Placeholder 17">
            <a:extLst>
              <a:ext uri="{FF2B5EF4-FFF2-40B4-BE49-F238E27FC236}">
                <a16:creationId xmlns:a16="http://schemas.microsoft.com/office/drawing/2014/main" id="{C0015C01-C564-94FA-3121-AFE7427CA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II–Year PBL Project Final Review</a:t>
            </a:r>
            <a:endParaRPr lang="en-IN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E1DBB35-58EA-739D-2CD4-B03EDDE7BA67}"/>
              </a:ext>
            </a:extLst>
          </p:cNvPr>
          <p:cNvSpPr txBox="1">
            <a:spLocks/>
          </p:cNvSpPr>
          <p:nvPr/>
        </p:nvSpPr>
        <p:spPr>
          <a:xfrm>
            <a:off x="528320" y="995680"/>
            <a:ext cx="11135360" cy="41474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Output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Crop recommendation — Random Forest: 99.55% test accuracy, weighted F1 0.9955, 5-fold CV 0.9927 ± 0.0039.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Yield estimation — XGBoost tuned: R² 0.740, RMSE 5.025, MAE 1.653, 5-fold CV R² 0.7428 ± 0.0254.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9EE1A65-5554-8149-DD9A-F4A84BC9A521}"/>
              </a:ext>
            </a:extLst>
          </p:cNvPr>
          <p:cNvSpPr txBox="1">
            <a:spLocks/>
          </p:cNvSpPr>
          <p:nvPr/>
        </p:nvSpPr>
        <p:spPr>
          <a:xfrm>
            <a:off x="528320" y="5325979"/>
            <a:ext cx="11135360" cy="10303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Pre-season sowing advice from a soil-test card · yield planning for storage and credit · advisory at farmer-producer-organisation scale · a field tool for agriculture extension officers · a teaching example of applied ML.</a:t>
            </a:r>
          </a:p>
        </p:txBody>
      </p:sp>
      <p:pic>
        <p:nvPicPr>
          <p:cNvPr id="12" name="Picture 11" descr="row_screens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3624" y="2112264"/>
            <a:ext cx="5810587" cy="2926080"/>
          </a:xfrm>
          <a:prstGeom prst="rect">
            <a:avLst/>
          </a:prstGeom>
        </p:spPr>
      </p:pic>
      <p:pic>
        <p:nvPicPr>
          <p:cNvPr id="13" name="Picture 12" descr="yield_pred_vs_actu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8392" y="2112264"/>
            <a:ext cx="2926080" cy="2926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00546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2361FE-0713-93E6-DB86-E79648324A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4127E-C73E-C2B8-523A-E1BCE6D63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47675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Conclusion, Limitations &amp; Future Scope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72919A-FB09-BDBD-EB1B-AC9C345A3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7</a:t>
            </a:fld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532C21-FD78-2AEE-FF81-92AB93C97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3F0DB14-E55E-F110-C797-B68990B5751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99" t="4596" r="67470" b="9539"/>
          <a:stretch>
            <a:fillRect/>
          </a:stretch>
        </p:blipFill>
        <p:spPr>
          <a:xfrm>
            <a:off x="10639226" y="87932"/>
            <a:ext cx="1429148" cy="907748"/>
          </a:xfrm>
          <a:prstGeom prst="rect">
            <a:avLst/>
          </a:prstGeom>
        </p:spPr>
      </p:pic>
      <p:sp>
        <p:nvSpPr>
          <p:cNvPr id="10" name="Footer Placeholder 17">
            <a:extLst>
              <a:ext uri="{FF2B5EF4-FFF2-40B4-BE49-F238E27FC236}">
                <a16:creationId xmlns:a16="http://schemas.microsoft.com/office/drawing/2014/main" id="{28924AA9-C1C9-5F20-B7B4-5C66E415C4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II–Year PBL Project Final Review</a:t>
            </a:r>
            <a:endParaRPr lang="en-IN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9DE962E-8FA1-1659-E5F2-3EBFA857DF56}"/>
              </a:ext>
            </a:extLst>
          </p:cNvPr>
          <p:cNvSpPr txBox="1">
            <a:spLocks/>
          </p:cNvSpPr>
          <p:nvPr/>
        </p:nvSpPr>
        <p:spPr>
          <a:xfrm>
            <a:off x="528320" y="995680"/>
            <a:ext cx="11135360" cy="24333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We developed AgriSense, a three-layer decision support system — scikit-learn and XGBoost models, a FastAPI service and a React Native app — to answer what a small-scale farmer should sow and how much to expect from it. Trained on 2,200 soil-and-weather records and 48,681 cleaned yield records, the crop recommender reached 99.55% test accuracy (5-fold CV 0.9927 ± 0.0039) and the tuned yield estimator R² 0.740 with RMSE 5.025. A parity test keeps the app's answer identical to the model's, and all 22 tests pass on a clean checkout. The project shows that one soil test and a few weather readings are enough to give a small-scale farmer a defensible, explainable sowing decision.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Crop choice proved almost separable from soil and weather alone; yield depends far more on crop and season than on anything measured in the field.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7714C8B-8CE9-ACE7-94F1-0BFA4EB5B338}"/>
              </a:ext>
            </a:extLst>
          </p:cNvPr>
          <p:cNvSpPr txBox="1">
            <a:spLocks/>
          </p:cNvSpPr>
          <p:nvPr/>
        </p:nvSpPr>
        <p:spPr>
          <a:xfrm>
            <a:off x="6232358" y="3611880"/>
            <a:ext cx="5431322" cy="274447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Add region and year to the yield features; retrain per agro-climatic zone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Report a confidence interval instead of a single yield number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On-device inference so the app works without a network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Regional-language UI and voice input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053D1FB-4EE1-2E64-D1C8-8DCF2C5E10E8}"/>
              </a:ext>
            </a:extLst>
          </p:cNvPr>
          <p:cNvSpPr txBox="1">
            <a:spLocks/>
          </p:cNvSpPr>
          <p:nvPr/>
        </p:nvSpPr>
        <p:spPr>
          <a:xfrm>
            <a:off x="528320" y="3611880"/>
            <a:ext cx="5431322" cy="274447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Dataset size and quality: 2,200 rows, perfectly balanced classes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Yield data has no year or location, so no regional validation is possible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Model constraints: R² 0.740 leaves a quarter of yield variance unexplained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No field trial yet with real farmers</a:t>
            </a:r>
          </a:p>
        </p:txBody>
      </p:sp>
    </p:spTree>
    <p:extLst>
      <p:ext uri="{BB962C8B-B14F-4D97-AF65-F5344CB8AC3E}">
        <p14:creationId xmlns:p14="http://schemas.microsoft.com/office/powerpoint/2010/main" val="5807701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BB6885-6B9A-270E-D011-C6195CEF0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B7B8957-8828-E623-0D1B-083069FEC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8</a:t>
            </a:fld>
            <a:endParaRPr lang="en-IN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3648C33D-8B31-6B82-2E8D-DC4C841DE344}"/>
              </a:ext>
            </a:extLst>
          </p:cNvPr>
          <p:cNvSpPr txBox="1">
            <a:spLocks/>
          </p:cNvSpPr>
          <p:nvPr/>
        </p:nvSpPr>
        <p:spPr>
          <a:xfrm>
            <a:off x="3814663" y="5210996"/>
            <a:ext cx="4562669" cy="879298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575"/>
              </a:spcBef>
              <a:buClr>
                <a:srgbClr val="D34817"/>
              </a:buClr>
              <a:buSzPct val="85000"/>
              <a:buNone/>
              <a:defRPr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Kartheeban C, B Nishanth</a:t>
            </a:r>
          </a:p>
          <a:p>
            <a:pPr marL="0" indent="0" algn="ctr">
              <a:spcBef>
                <a:spcPts val="575"/>
              </a:spcBef>
              <a:buClr>
                <a:srgbClr val="D34817"/>
              </a:buClr>
              <a:buSzPct val="85000"/>
              <a:buNone/>
              <a:defRPr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Computer Science and Engineering</a:t>
            </a:r>
          </a:p>
          <a:p>
            <a:pPr marL="0" indent="0" algn="ctr">
              <a:spcBef>
                <a:spcPts val="575"/>
              </a:spcBef>
              <a:buClr>
                <a:srgbClr val="D34817"/>
              </a:buClr>
              <a:buSzPct val="85000"/>
              <a:buNone/>
              <a:defRPr/>
            </a:pP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2A3C68FE-708A-E575-2346-D66B76F28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233C03-9E8E-963B-6AEE-A6F08D165C4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407" b="13744"/>
          <a:stretch>
            <a:fillRect/>
          </a:stretch>
        </p:blipFill>
        <p:spPr>
          <a:xfrm>
            <a:off x="2746625" y="136525"/>
            <a:ext cx="6698746" cy="13330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6DAC499-8CE4-9EB6-4C6F-AF24243B97F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4988" y="1646945"/>
            <a:ext cx="4782020" cy="3386700"/>
          </a:xfrm>
          <a:prstGeom prst="rect">
            <a:avLst/>
          </a:prstGeom>
        </p:spPr>
      </p:pic>
      <p:sp>
        <p:nvSpPr>
          <p:cNvPr id="10" name="Footer Placeholder 17">
            <a:extLst>
              <a:ext uri="{FF2B5EF4-FFF2-40B4-BE49-F238E27FC236}">
                <a16:creationId xmlns:a16="http://schemas.microsoft.com/office/drawing/2014/main" id="{85787E0A-82D9-5CAB-8C09-1F3F24B08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II–Year PBL Project Final Review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918ED0-F7FD-61C4-5F6D-45B18985D959}"/>
              </a:ext>
            </a:extLst>
          </p:cNvPr>
          <p:cNvSpPr txBox="1"/>
          <p:nvPr/>
        </p:nvSpPr>
        <p:spPr>
          <a:xfrm>
            <a:off x="5105400" y="7513282"/>
            <a:ext cx="224188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 Repository</a:t>
            </a:r>
            <a:endParaRPr lang="en-IN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2006C30-F416-F103-AA83-A6555D710B62}"/>
              </a:ext>
            </a:extLst>
          </p:cNvPr>
          <p:cNvGrpSpPr/>
          <p:nvPr/>
        </p:nvGrpSpPr>
        <p:grpSpPr>
          <a:xfrm>
            <a:off x="702620" y="3285299"/>
            <a:ext cx="3014358" cy="1775255"/>
            <a:chOff x="702620" y="3285299"/>
            <a:chExt cx="3014358" cy="1775255"/>
          </a:xfrm>
        </p:grpSpPr>
        <p:pic>
          <p:nvPicPr>
            <p:cNvPr id="4" name="Picture 3" descr="Video - Free technology icons">
              <a:extLst>
                <a:ext uri="{FF2B5EF4-FFF2-40B4-BE49-F238E27FC236}">
                  <a16:creationId xmlns:a16="http://schemas.microsoft.com/office/drawing/2014/main" id="{20AF4B87-C09B-B0BF-63C8-DF3D52FD466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705024" y="3285299"/>
              <a:ext cx="997561" cy="997561"/>
            </a:xfrm>
            <a:prstGeom prst="rect">
              <a:avLst/>
            </a:prstGeom>
          </p:spPr>
        </p:pic>
        <p:sp>
          <p:nvSpPr>
            <p:cNvPr id="13" name="Content Placeholder 2">
              <a:extLst>
                <a:ext uri="{FF2B5EF4-FFF2-40B4-BE49-F238E27FC236}">
                  <a16:creationId xmlns:a16="http://schemas.microsoft.com/office/drawing/2014/main" id="{B7369601-F94C-8283-5031-C1F98541F694}"/>
                </a:ext>
              </a:extLst>
            </p:cNvPr>
            <p:cNvSpPr txBox="1">
              <a:spLocks/>
            </p:cNvSpPr>
            <p:nvPr/>
          </p:nvSpPr>
          <p:spPr>
            <a:xfrm>
              <a:off x="702620" y="4181255"/>
              <a:ext cx="3014358" cy="8792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 panose="020B0604020202020204" pitchFamily="34" charset="0"/>
                <a:buNone/>
              </a:pPr>
              <a:r>
                <a:rPr 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Project Video Link</a:t>
              </a:r>
              <a:endPara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indent="0" algn="just">
                <a:buNone/>
              </a:pPr>
              <a:r>
                <a:rPr lang="en-US" sz="1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Add the Direct URL/Drive link of your project in voice over video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1EB63A19-86CA-308B-4F8B-37E96DFBBAB8}"/>
              </a:ext>
            </a:extLst>
          </p:cNvPr>
          <p:cNvGrpSpPr/>
          <p:nvPr/>
        </p:nvGrpSpPr>
        <p:grpSpPr>
          <a:xfrm>
            <a:off x="8475018" y="3344430"/>
            <a:ext cx="3014358" cy="1716124"/>
            <a:chOff x="8475018" y="3344430"/>
            <a:chExt cx="3014358" cy="1716124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6A4E5C56-C77A-1635-7CC4-71BC5FB9B0E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536553" y="3344430"/>
              <a:ext cx="879298" cy="879298"/>
            </a:xfrm>
            <a:prstGeom prst="rect">
              <a:avLst/>
            </a:prstGeom>
          </p:spPr>
        </p:pic>
        <p:sp>
          <p:nvSpPr>
            <p:cNvPr id="24" name="Content Placeholder 2">
              <a:extLst>
                <a:ext uri="{FF2B5EF4-FFF2-40B4-BE49-F238E27FC236}">
                  <a16:creationId xmlns:a16="http://schemas.microsoft.com/office/drawing/2014/main" id="{19622691-213E-2374-E58E-253554DF0409}"/>
                </a:ext>
              </a:extLst>
            </p:cNvPr>
            <p:cNvSpPr txBox="1">
              <a:spLocks/>
            </p:cNvSpPr>
            <p:nvPr/>
          </p:nvSpPr>
          <p:spPr>
            <a:xfrm>
              <a:off x="8475018" y="4181255"/>
              <a:ext cx="3014358" cy="8792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 panose="020B0604020202020204" pitchFamily="34" charset="0"/>
                <a:buNone/>
              </a:pPr>
              <a:r>
                <a:rPr 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GitHub Repository Link</a:t>
              </a:r>
              <a:endPara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indent="0" algn="ctr">
                <a:buNone/>
              </a:pPr>
              <a:r>
                <a:rPr lang="en-US" sz="1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 xml:space="preserve">github.com/kartheeban-chelladurai/agri-decision-support-ml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181809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1143</TotalTime>
  <Words>577</Words>
  <Application>Microsoft Office PowerPoint</Application>
  <PresentationFormat>Widescreen</PresentationFormat>
  <Paragraphs>104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Office Theme</vt:lpstr>
      <vt:lpstr>CS3503 – Machine Learning PBL Project Review</vt:lpstr>
      <vt:lpstr>Problem &amp; Objectives</vt:lpstr>
      <vt:lpstr>Input, Analysis &amp; Insights</vt:lpstr>
      <vt:lpstr> Technical Approach</vt:lpstr>
      <vt:lpstr> Feasibility, Risk and Challenges</vt:lpstr>
      <vt:lpstr> Result and Applications </vt:lpstr>
      <vt:lpstr>Conclusion, Limitations &amp; Future Scope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ayeesha nasreen</dc:creator>
  <cp:lastModifiedBy>Pratham Verma</cp:lastModifiedBy>
  <cp:revision>16</cp:revision>
  <dcterms:created xsi:type="dcterms:W3CDTF">2025-03-10T15:11:33Z</dcterms:created>
  <dcterms:modified xsi:type="dcterms:W3CDTF">2026-09-24T06:06:07Z</dcterms:modified>
</cp:coreProperties>
</file>